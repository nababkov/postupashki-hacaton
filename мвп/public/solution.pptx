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55579362b7449e" /><Relationship Type="http://schemas.openxmlformats.org/officeDocument/2006/relationships/extended-properties" Target="/docProps/app.xml" Id="Ra2bf37b33c454be3" /><Relationship Type="http://schemas.openxmlformats.org/officeDocument/2006/relationships/officeDocument" Target="/ppt/presentation.xml" Id="R81073e69ab5f40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a2b9befc844e1"/>
  </p:sldMasterIdLst>
  <p:notesMasterIdLst>
    <p:notesMasterId xmlns:r="http://schemas.openxmlformats.org/officeDocument/2006/relationships" r:id="Rd93ef906c7994f1c"/>
  </p:notesMasterIdLst>
  <p:sldIdLst>
    <p:sldId xmlns:r="http://schemas.openxmlformats.org/officeDocument/2006/relationships" id="256" r:id="R2f94fe6a44244d16"/>
    <p:sldId xmlns:r="http://schemas.openxmlformats.org/officeDocument/2006/relationships" id="257" r:id="Rd09333448f4845a8"/>
    <p:sldId xmlns:r="http://schemas.openxmlformats.org/officeDocument/2006/relationships" id="258" r:id="R83c82e86e549482a"/>
    <p:sldId xmlns:r="http://schemas.openxmlformats.org/officeDocument/2006/relationships" id="259" r:id="R6d33c289195b4948"/>
    <p:sldId xmlns:r="http://schemas.openxmlformats.org/officeDocument/2006/relationships" id="260" r:id="R0b6840c9268945f5"/>
    <p:sldId xmlns:r="http://schemas.openxmlformats.org/officeDocument/2006/relationships" id="261" r:id="Rd44dc7f2944b4021"/>
    <p:sldId xmlns:r="http://schemas.openxmlformats.org/officeDocument/2006/relationships" id="262" r:id="R353620ea1d524194"/>
    <p:sldId xmlns:r="http://schemas.openxmlformats.org/officeDocument/2006/relationships" id="263" r:id="Rffc5c80e6f014b3e"/>
    <p:sldId xmlns:r="http://schemas.openxmlformats.org/officeDocument/2006/relationships" id="264" r:id="Rb59d3ce495604bfb"/>
    <p:sldId xmlns:r="http://schemas.openxmlformats.org/officeDocument/2006/relationships" id="265" r:id="Rdfbefea0aabf4173"/>
    <p:sldId xmlns:r="http://schemas.openxmlformats.org/officeDocument/2006/relationships" id="266" r:id="R55c63879b80040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f119ef55064089" /><Relationship Type="http://schemas.openxmlformats.org/officeDocument/2006/relationships/slideMaster" Target="/ppt/slideMasters/slideMaster1.xml" Id="Ra60a2b9befc844e1" /><Relationship Type="http://schemas.openxmlformats.org/officeDocument/2006/relationships/notesMaster" Target="/ppt/notesMasters/notesMaster1.xml" Id="Rd93ef906c7994f1c" /><Relationship Type="http://schemas.openxmlformats.org/officeDocument/2006/relationships/presProps" Target="/ppt/presProps.xml" Id="Rebcbe4fb02584f58" /><Relationship Type="http://schemas.openxmlformats.org/officeDocument/2006/relationships/tableStyles" Target="/ppt/tableStyles.xml" Id="R34f6deb59e5442a4" /><Relationship Type="http://schemas.openxmlformats.org/officeDocument/2006/relationships/slide" Target="/ppt/slides/slide1.xml" Id="R2f94fe6a44244d16" /><Relationship Type="http://schemas.openxmlformats.org/officeDocument/2006/relationships/slide" Target="/ppt/slides/slide2.xml" Id="Rd09333448f4845a8" /><Relationship Type="http://schemas.openxmlformats.org/officeDocument/2006/relationships/slide" Target="/ppt/slides/slide3.xml" Id="R83c82e86e549482a" /><Relationship Type="http://schemas.openxmlformats.org/officeDocument/2006/relationships/slide" Target="/ppt/slides/slide4.xml" Id="R6d33c289195b4948" /><Relationship Type="http://schemas.openxmlformats.org/officeDocument/2006/relationships/slide" Target="/ppt/slides/slide5.xml" Id="R0b6840c9268945f5" /><Relationship Type="http://schemas.openxmlformats.org/officeDocument/2006/relationships/slide" Target="/ppt/slides/slide6.xml" Id="Rd44dc7f2944b4021" /><Relationship Type="http://schemas.openxmlformats.org/officeDocument/2006/relationships/slide" Target="/ppt/slides/slide7.xml" Id="R353620ea1d524194" /><Relationship Type="http://schemas.openxmlformats.org/officeDocument/2006/relationships/slide" Target="/ppt/slides/slide8.xml" Id="Rffc5c80e6f014b3e" /><Relationship Type="http://schemas.openxmlformats.org/officeDocument/2006/relationships/slide" Target="/ppt/slides/slide9.xml" Id="Rb59d3ce495604bfb" /><Relationship Type="http://schemas.openxmlformats.org/officeDocument/2006/relationships/slide" Target="/ppt/slides/slide10.xml" Id="Rdfbefea0aabf4173" /><Relationship Type="http://schemas.openxmlformats.org/officeDocument/2006/relationships/slide" Target="/ppt/slides/slide11.xml" Id="R55c63879b80040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16c24893748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247e74ffdf479e" /><Relationship Type="http://schemas.openxmlformats.org/officeDocument/2006/relationships/notesMaster" Target="/ppt/notesMasters/notesMaster1.xml" Id="Rfa9f09816dac4e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79bb8db454da0" /><Relationship Type="http://schemas.openxmlformats.org/officeDocument/2006/relationships/notesMaster" Target="/ppt/notesMasters/notesMaster1.xml" Id="R2a5e183a9c9440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74eeb9786e48ad" /><Relationship Type="http://schemas.openxmlformats.org/officeDocument/2006/relationships/notesMaster" Target="/ppt/notesMasters/notesMaster1.xml" Id="R7f2b4a923aef4b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c40f58add44bd" /><Relationship Type="http://schemas.openxmlformats.org/officeDocument/2006/relationships/notesMaster" Target="/ppt/notesMasters/notesMaster1.xml" Id="R0dd688a6ff6244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faf3dfc5de4938" /><Relationship Type="http://schemas.openxmlformats.org/officeDocument/2006/relationships/notesMaster" Target="/ppt/notesMasters/notesMaster1.xml" Id="Rd40bf41cea8242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c69d6d874b44d0" /><Relationship Type="http://schemas.openxmlformats.org/officeDocument/2006/relationships/notesMaster" Target="/ppt/notesMasters/notesMaster1.xml" Id="R097562b801884b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27b6e7f2b44324" /><Relationship Type="http://schemas.openxmlformats.org/officeDocument/2006/relationships/notesMaster" Target="/ppt/notesMasters/notesMaster1.xml" Id="Ra79b6006a03849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a8991968ff489e" /><Relationship Type="http://schemas.openxmlformats.org/officeDocument/2006/relationships/notesMaster" Target="/ppt/notesMasters/notesMaster1.xml" Id="Ra84e8029f2a140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4234cad0ea4df3" /><Relationship Type="http://schemas.openxmlformats.org/officeDocument/2006/relationships/notesMaster" Target="/ppt/notesMasters/notesMaster1.xml" Id="R5ca884e0381a48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0cf3dcc9d64b71" /><Relationship Type="http://schemas.openxmlformats.org/officeDocument/2006/relationships/notesMaster" Target="/ppt/notesMasters/notesMaster1.xml" Id="R9e18dc4349364a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012b8b1e0344dc" /><Relationship Type="http://schemas.openxmlformats.org/officeDocument/2006/relationships/notesMaster" Target="/ppt/notesMasters/notesMaster1.xml" Id="Rfcd964e0bc2844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Синтетический иллюстративный пример, не данные кейса: A за 5 дней, B за 1 день до оплаты. Веса 2^-2.5 и 2^-0.5 дают нормированные 20% / 80%. Сумма каждого столбца 10 000 руб.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NAbabkov/Postupashki-hacaton, README.md, мвп/docs/SOLUTION.md и реализации lib/*, 12.09.2026. https://demo-komandy-postupili.postupili-demo.workers.dev/ Исторические данные, синтетическое демо и live наблюдения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13ba1f1864e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5e77a499544cd1" /><Relationship Type="http://schemas.openxmlformats.org/officeDocument/2006/relationships/slideLayout" Target="/ppt/slideLayouts/slideLayout1.xml" Id="R35307e565c0640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07e565c0640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459237c9d43bd" /><Relationship Type="http://schemas.openxmlformats.org/officeDocument/2006/relationships/notesSlide" Target="/ppt/notesSlides/notesSlide1.xml" Id="R739cf22fb3a24c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f5fd93ad74a8e" /><Relationship Type="http://schemas.openxmlformats.org/officeDocument/2006/relationships/notesSlide" Target="/ppt/notesSlides/notesSlide2.xml" Id="R68284f4221b74c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02123af37497c" /><Relationship Type="http://schemas.openxmlformats.org/officeDocument/2006/relationships/notesSlide" Target="/ppt/notesSlides/notesSlide3.xml" Id="Red929908089141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513a442a64980" /><Relationship Type="http://schemas.openxmlformats.org/officeDocument/2006/relationships/notesSlide" Target="/ppt/notesSlides/notesSlide4.xml" Id="R08bcdd006bf643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e4fa092174625" /><Relationship Type="http://schemas.openxmlformats.org/officeDocument/2006/relationships/notesSlide" Target="/ppt/notesSlides/notesSlide5.xml" Id="Rfaa6b6bde90a41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c9235260243c5" /><Relationship Type="http://schemas.openxmlformats.org/officeDocument/2006/relationships/notesSlide" Target="/ppt/notesSlides/notesSlide6.xml" Id="R20d9ca75bacb49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69229770c4f42" /><Relationship Type="http://schemas.openxmlformats.org/officeDocument/2006/relationships/notesSlide" Target="/ppt/notesSlides/notesSlide7.xml" Id="Rce6848b96cd141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4041cdcf54379" /><Relationship Type="http://schemas.openxmlformats.org/officeDocument/2006/relationships/chart" Target="/ppt/slides/charts/chart1.xml" Id="R410f85f45f7b42a8" /><Relationship Type="http://schemas.openxmlformats.org/officeDocument/2006/relationships/notesSlide" Target="/ppt/notesSlides/notesSlide8.xml" Id="Rdddaf3ec77a34d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be5c6aa4e4a92" /><Relationship Type="http://schemas.openxmlformats.org/officeDocument/2006/relationships/notesSlide" Target="/ppt/notesSlides/notesSlide9.xml" Id="Rcc3d81ea311846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03cb8fe045b5" /><Relationship Type="http://schemas.openxmlformats.org/officeDocument/2006/relationships/notesSlide" Target="/ppt/notesSlides/notesSlide10.xml" Id="Rd44dfc4ec2f94c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2f30d2e6242ba" /><Relationship Type="http://schemas.openxmlformats.org/officeDocument/2006/relationships/notesSlide" Target="/ppt/notesSlides/notesSlide11.xml" Id="R0b2c2af92203440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Пост A</c:v>
          </c:tx>
          <c:spPr>
            <a:solidFill xmlns:a="http://schemas.openxmlformats.org/drawingml/2006/main">
              <a:srgbClr val="4166E6"/>
            </a:solidFill>
          </c:spPr>
          <c:dLbls>
            <c:dLbl>
              <c:idx val="1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First Touch</c:v>
                </c:pt>
                <c:pt idx="1">
                  <c:v>Last Touch</c:v>
                </c:pt>
                <c:pt idx="2">
                  <c:v>Linear</c:v>
                </c:pt>
                <c:pt idx="3">
                  <c:v>Time Decay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10000</c:v>
                </c:pt>
                <c:pt idx="1">
                  <c:v>0</c:v>
                </c:pt>
                <c:pt idx="2">
                  <c:v>5000</c:v>
                </c:pt>
                <c:pt idx="3">
                  <c:v>2000</c:v>
                </c:pt>
              </c:numCache>
            </c:numRef>
          </c:val>
        </c:ser>
        <c:ser>
          <c:idx val="1"/>
          <c:order val="1"/>
          <c:tx>
            <c:v>Пост B</c:v>
          </c:tx>
          <c:spPr>
            <a:solidFill xmlns:a="http://schemas.openxmlformats.org/drawingml/2006/main">
              <a:srgbClr val="187B57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Data'!$C$2:$C$5</c:f>
              <c:strCache>
                <c:ptCount val="4"/>
                <c:pt idx="0">
                  <c:v>First Touch</c:v>
                </c:pt>
                <c:pt idx="1">
                  <c:v>Last Touch</c:v>
                </c:pt>
                <c:pt idx="2">
                  <c:v>Linear</c:v>
                </c:pt>
                <c:pt idx="3">
                  <c:v>Time Decay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</c:v>
                </c:pt>
                <c:pt idx="1">
                  <c:v>10000</c:v>
                </c:pt>
                <c:pt idx="2">
                  <c:v>5000</c:v>
                </c:pt>
                <c:pt idx="3">
                  <c:v>8000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84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8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7FB7A-B64B-455E-8CD3-E791547E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5DB71-5D68-471D-8B42-416F84B0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Маркетинг, который можно измерить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0B65D-845B-4DBB-B260-D9651806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9D3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3E5"/>
                </a:solidFill>
                <a:latin typeface="Arial"/>
                <a:ea typeface="Arial"/>
                <a:cs typeface="Arial"/>
              </a:rPr>
              <a:t>Решение хакатона · работающий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C6D8F-5FB0-4290-B3E7-41397431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3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3E5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37129-BA7C-436C-8BCA-417B507A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3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3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30938-CEDF-44E3-A89B-3FFD66DF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рекламного поста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подтверждённой продажи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4978D-5D20-4060-8657-EFDF6A0E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9BDF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9BDFE"/>
                </a:solidFill>
                <a:latin typeface="Arial"/>
                <a:ea typeface="Arial"/>
                <a:cs typeface="Arial"/>
              </a:rPr>
              <a:t>Календарь → Воронка → Результаты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F61D6-194F-4442-B625-26C70A2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9D3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3E5"/>
                </a:solidFill>
                <a:latin typeface="Arial"/>
                <a:ea typeface="Arial"/>
                <a:cs typeface="Arial"/>
              </a:rPr>
              <a:t>Планирование, источник, намерение купить, деньги и возвраты.</a:t>
            </a:r>
          </a:p>
        </p:txBody>
      </p:sp>
    </p:spTree>
    <p:extLst>
      <p:ext uri="{BB962C8B-B14F-4D97-AF65-F5344CB8AC3E}">
        <p14:creationId xmlns:p14="http://schemas.microsoft.com/office/powerpoint/2010/main" val="2003936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15A14-9483-44F3-A7D9-29732A3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93FB9-EC0E-47EB-BC91-157D77F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Что дали в кейсе — и чего не дали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60F5E-72A0-45B1-8EBC-BD4141FB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Сначала отделяем наблюдения от предположений.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0317D-9712-4589-ABAA-F2A54E69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7167C-FB5F-436E-BDC2-3F64DC91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2276475"/>
          <a:ext xmlns:a="http://schemas.openxmlformats.org/drawingml/2006/main" cx="10515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514725"/>
                <a:gridCol w="3524250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Материал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известно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неизвестно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795 строк / 606 ID / 18 курсов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Курс, сумма, время оплаты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Лиды и источник покупателя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182 поста / 5 каналов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Наблюдаемые публикации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Полнота архива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62 поста в календаре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Проверенная маркетинг-история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Исторические расходы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1E3E9-8267-4CC6-A1CD-F81D185A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0542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36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3643"/>
                </a:solidFill>
                <a:latin typeface="Arial"/>
                <a:ea typeface="Arial"/>
                <a:cs typeface="Arial"/>
              </a:rPr>
              <a:t>Исторические данные нужны для анализа продаж и сценариев.</a:t>
            </a:r>
          </a:p>
          <a:p xmlns:a="http://schemas.openxmlformats.org/drawingml/2006/main">
            <a:pPr>
              <a:defRPr sz="2100" b="1">
                <a:solidFill>
                  <a:srgbClr val="B436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3643"/>
                </a:solidFill>
                <a:latin typeface="Arial"/>
                <a:ea typeface="Arial"/>
                <a:cs typeface="Arial"/>
              </a:rPr>
              <a:t>Они не доказывают, что покупатель видел конкретный пост.</a:t>
            </a:r>
          </a:p>
        </p:txBody>
      </p:sp>
    </p:spTree>
    <p:extLst>
      <p:ext uri="{BB962C8B-B14F-4D97-AF65-F5344CB8AC3E}">
        <p14:creationId xmlns:p14="http://schemas.microsoft.com/office/powerpoint/2010/main" val="2048185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0BCD2-53D8-4219-9EC4-4A6CCFCF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7B174-F909-4F2F-A52E-537DFC24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AS IS: данные есть, связи с продажей 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8D18F-3D51-46C1-948B-3D1F4608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До внедрения: публикации и оплаты живут отдельно.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4F07B-05F3-4D8D-B8BD-BB76C345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34FF8-1D1B-4519-8306-DDEF7624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20CC6-FC2C-4410-AF70-6B1854F8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762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5D193-AA81-409D-8524-EAFB773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4574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Telegram-посты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ручной план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1A536-753B-4680-AD0E-216B588D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762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7BD3-41D5-47EA-8773-D1C9AB3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62250"/>
            <a:ext cx="24574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Таблица оплат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курсов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F5BAC-E965-4C28-B155-E3A8EF6E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19375"/>
            <a:ext cx="352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3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E0DBB-6EAF-4A0C-8DC8-B7FB1B6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32194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Оценка рекламы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предположениям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00450" y="32146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7188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96125" y="32146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7188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941B4-8036-4550-BFC7-2E65AA6B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436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43643"/>
                </a:solidFill>
                <a:latin typeface="Arial"/>
                <a:ea typeface="Arial"/>
                <a:cs typeface="Arial"/>
              </a:rPr>
              <a:t>Нет наблюдаемого пути «пост → человек → подтверждённая оплата».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49D82-48B8-4F94-8B1F-9776D01D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515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Сумма продаж известна. Финансовый эффект конкретного поста — нет.</a:t>
            </a:r>
          </a:p>
        </p:txBody>
      </p:sp>
    </p:spTree>
    <p:extLst>
      <p:ext uri="{BB962C8B-B14F-4D97-AF65-F5344CB8AC3E}">
        <p14:creationId xmlns:p14="http://schemas.microsoft.com/office/powerpoint/2010/main" val="1761634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242F0-02D9-4F6D-919E-08848065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E0D48-C948-4679-A1A3-F9084CDC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TO BE: источник проходит через весь путь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30FD0-2850-4C1E-AFB2-C45C51CD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Наблюдаемое событие и подтверждённые деньги — разные факты.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C111D-A78D-4124-8A27-63F4349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23D52-3819-4FA5-A4C1-9C3F26F6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F8455-916A-4D22-BE2D-BB1D4E6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48404-DB51-475E-A791-2A83F834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2695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Размещение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уникальный /r/ID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F08E1-8C40-4D4D-83EF-02F3C02E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4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DDA61-38DF-4462-B3BE-887BE155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47925"/>
            <a:ext cx="2695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Telegram-бот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источник в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C6224-C79B-482E-8156-F086E8D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050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4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0F345-4D10-4F96-AD1C-E97E8490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47925"/>
            <a:ext cx="2695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запуск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38575" y="27908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718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20000" y="27908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71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E00FD-CEC9-42BA-B8D0-E82BD9F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00550"/>
            <a:ext cx="3000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3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B7AD1-B411-43D3-B121-98DA5363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43425"/>
            <a:ext cx="2695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PurchaseIntent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клик «К покупке»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EE8CB-9D33-4CF2-A45F-3687117B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00550"/>
            <a:ext cx="3000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2D0D6-A652-4F3F-9B56-457580A2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43425"/>
            <a:ext cx="2695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Confirmed Payment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5DA77-EC97-4572-AF8E-B961FCED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000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000D3-129F-40D1-B964-84D330C8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43425"/>
            <a:ext cx="2695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модели и деньги</a:t>
            </a:r>
          </a:p>
        </p:txBody>
      </p: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853613" y="327660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718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4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620000" y="49149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7188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6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3838575" y="49149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71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C5547-C9F5-4E76-898A-88C8CC2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957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36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43643"/>
                </a:solidFill>
                <a:latin typeface="Arial"/>
                <a:ea typeface="Arial"/>
                <a:cs typeface="Arial"/>
              </a:rPr>
              <a:t>НЕ ОПЛАТА</a:t>
            </a:r>
          </a:p>
        </p:txBody>
      </p:sp>
    </p:spTree>
    <p:extLst>
      <p:ext uri="{BB962C8B-B14F-4D97-AF65-F5344CB8AC3E}">
        <p14:creationId xmlns:p14="http://schemas.microsoft.com/office/powerpoint/2010/main" val="687972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F5D11-00C9-48C3-A7CC-39EA38A9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8048A-7FF6-42B6-B046-24BA8512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Календарь: единица учёта — размещение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04D21-F050-42DF-AEBD-9825A6A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Кампания объединяет посты; курс обозначает продукт.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10913-F636-4536-97B1-0873F3F3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3D373-244E-444E-8A66-A43F2BC1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CF0E-ACAB-479F-94B6-9CA8D27C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10515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1. Выбрать кампанию, канал, курсы, дату UTC и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DEE0-1F16-4609-9A7C-CE09F6F5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0515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2. Выпустить стабильную ссылку /r/ID для этого поста.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B02AF-60FD-435D-B027-F39A3DE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0515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3. Вставить её в Telegram-публикацию; план и факт хранить отдельно.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613FF-3658-4CB6-8CBA-DD5214A1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515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4. Смотреть переходы, Start, намерения и подтверждённые оплаты.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90F95-0DC8-425A-AA68-6B74D30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1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166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166E6"/>
                </a:solidFill>
                <a:latin typeface="Arial"/>
                <a:ea typeface="Arial"/>
                <a:cs typeface="Arial"/>
              </a:rPr>
              <a:t>Два поста одной кампании имеют два placementId.</a:t>
            </a:r>
          </a:p>
          <a:p xmlns:a="http://schemas.openxmlformats.org/drawingml/2006/main">
            <a:pPr>
              <a:defRPr sz="1875" b="1">
                <a:solidFill>
                  <a:srgbClr val="4166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166E6"/>
                </a:solidFill>
                <a:latin typeface="Arial"/>
                <a:ea typeface="Arial"/>
                <a:cs typeface="Arial"/>
              </a:rPr>
              <a:t>Их нельзя объединять до распределения оплаты.</a:t>
            </a:r>
          </a:p>
        </p:txBody>
      </p:sp>
    </p:spTree>
    <p:extLst>
      <p:ext uri="{BB962C8B-B14F-4D97-AF65-F5344CB8AC3E}">
        <p14:creationId xmlns:p14="http://schemas.microsoft.com/office/powerpoint/2010/main" val="731848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FBA7E-A559-493E-8E69-0B53812F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D302D-951F-4796-B083-DE7D776F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Воронка: Start → намерение → подтверждение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3B52C-81C0-47EB-A82B-58A4ED05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Браузерный переход не является Telegram Start.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90245-29CE-4F39-AA50-E936841C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933C2-27E9-4CC2-8C68-4D0E4485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2286000"/>
          <a:ext xmlns:a="http://schemas.openxmlformats.org/drawingml/2006/main" cx="10515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619625"/>
                <a:gridCol w="3038475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Событие / сущность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означает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Откуда берётся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start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Бот получил /start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events.csv бота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payment_click / intent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Хочет купить; передача менеджеру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Кнопка в боте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Payment / refund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Подтверждённая сумма / возврат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Ручная регистрация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1D2DC-FDBB-4F35-8F22-8C4B262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Показываем raw события и уникальных людей отдельно.</a:t>
            </a:r>
          </a:p>
          <a:p xmlns:a="http://schemas.openxmlformats.org/drawingml/2006/main">
            <a:pPr>
              <a:defRPr sz="2100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Повторный импорт не должен создавать повторную заявку.</a:t>
            </a:r>
          </a:p>
        </p:txBody>
      </p:sp>
    </p:spTree>
    <p:extLst>
      <p:ext uri="{BB962C8B-B14F-4D97-AF65-F5344CB8AC3E}">
        <p14:creationId xmlns:p14="http://schemas.microsoft.com/office/powerpoint/2010/main" val="1010736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09E24-FDD9-4546-A2F1-95407B9B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498E2-4F7A-4838-8B56-ED40DBA6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Атрибуция: четыре модели сохраняются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33D18-069B-4222-9AF2-90ADE6B7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Live/demo: только bot start того же userKey до оплаты и внутри окна.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A3967-B3ED-48F3-AF22-C65F2B19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C823F-C014-43BA-8F1F-212C7343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2181225"/>
          <a:ext xmlns:a="http://schemas.openxmlformats.org/drawingml/2006/main" cx="105156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324725"/>
              </a:tblGrid>
              <a:tr h="6438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 распределения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First Touch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100% самому раннему размещению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Last Touch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100% самому позднему размещению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Поровну уникальным placementId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Time Decay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Вес 2^(−дни / полураспад), затем нормировка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EBFD-1B99-4439-B652-1B70018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166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166E6"/>
                </a:solidFill>
                <a:latin typeface="Arial"/>
                <a:ea typeface="Arial"/>
                <a:cs typeface="Arial"/>
              </a:rPr>
              <a:t>Сначала allocation → затем кампания / канал / курс и фильтры.</a:t>
            </a:r>
          </a:p>
          <a:p xmlns:a="http://schemas.openxmlformats.org/drawingml/2006/main">
            <a:pPr>
              <a:defRPr sz="1875" b="1">
                <a:solidFill>
                  <a:srgbClr val="4166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166E6"/>
                </a:solidFill>
                <a:latin typeface="Arial"/>
                <a:ea typeface="Arial"/>
                <a:cs typeface="Arial"/>
              </a:rPr>
              <a:t>Без подходящего касания — Unknown; скрытые доли не перенормируются.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19599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E8239-234B-4098-944A-E5AB68B8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85310-1DA3-4A1C-967A-D6402D04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Пример: два поста одной кампании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0E318-2E3B-48A6-BBFD-1737E49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СИНТЕТИЧЕСКИЙ ПРИМЕР · A: день 1, B: день 5, оплата: день 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D0E12-7E42-49BE-B22E-72708D9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E59F2-ACEB-4AB4-B756-95CF49A1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38200" y="2257425"/>
          <a:ext xmlns:a="http://schemas.openxmlformats.org/drawingml/2006/main" cx="10515600" cy="3209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0f85f45f7b42a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B284A-91F4-4251-90F9-A9A17AC4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Во всех моделях сумма = 10 000 ₽. Для Decay: полураспад 2 дня.</a:t>
            </a:r>
          </a:p>
          <a:p xmlns:a="http://schemas.openxmlformats.org/drawingml/2006/main">
            <a:pPr>
              <a:defRPr sz="18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A и B остаются разными касаниями, хотя campaignId одинаковый.</a:t>
            </a:r>
          </a:p>
        </p:txBody>
      </p:sp>
    </p:spTree>
    <p:extLst>
      <p:ext uri="{BB962C8B-B14F-4D97-AF65-F5344CB8AC3E}">
        <p14:creationId xmlns:p14="http://schemas.microsoft.com/office/powerpoint/2010/main" val="17774760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B50EC-C92A-49B2-90E3-89F5E62E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C96F4-6864-40C8-84F0-2F71D9CA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ROAS и ROMI: доход и окупаемость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E7FE9-A791-4A4B-8B0F-A84BF2D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СИНТЕТИЧЕСКИЙ ПРИМЕР · расходы заданы явно, это допущения.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F67DC-5AB9-4F11-B59B-FC8CF50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71DC6-E0CA-43D6-8481-857EFE51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2181225"/>
          <a:ext xmlns:a="http://schemas.openxmlformats.org/drawingml/2006/main" cx="105156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86350"/>
                <a:gridCol w="257175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Расчёт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828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Net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10 000 − возврат 0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10 000 ₽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Доход до маркетинга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Net × (1 − 30% − 2%) − 500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6 300 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Маркетинг M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Реклама A 5 000 + прочее O 1 000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6 000 ₽</a:t>
                      </a:r>
                    </a:p>
                  </a:txBody>
                  <a:tcPr marL="91440" marR="91440" marT="45720" marB="45720">
                    <a:solidFill>
                      <a:srgbClr val="EFF3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ROAS / ROMI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Net / A; (C − M) / M ×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43"/>
                          </a:solidFill>
                          <a:latin typeface="Arial"/>
                          <a:ea typeface="Arial"/>
                          <a:cs typeface="Arial"/>
                        </a:rPr>
                        <a:t>2× /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78438-647D-4B9C-8CC6-1AD87363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36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3643"/>
                </a:solidFill>
                <a:latin typeface="Arial"/>
                <a:ea typeface="Arial"/>
                <a:cs typeface="Arial"/>
              </a:rPr>
              <a:t>Возврат уменьшает Net. Неизвестные расходы → прочерк.</a:t>
            </a:r>
          </a:p>
          <a:p xmlns:a="http://schemas.openxmlformats.org/drawingml/2006/main">
            <a:pPr>
              <a:defRPr sz="1875" b="1">
                <a:solidFill>
                  <a:srgbClr val="B436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3643"/>
                </a:solidFill>
                <a:latin typeface="Arial"/>
                <a:ea typeface="Arial"/>
                <a:cs typeface="Arial"/>
              </a:rPr>
              <a:t>Атрибуция распределяет сумму; она не доказывает причинный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1510896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E5A09-1F87-4C1F-9955-8964DB8E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ECFBE-5971-4E9A-B12F-3E31EC4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843"/>
                </a:solidFill>
                <a:latin typeface="Arial"/>
                <a:ea typeface="Arial"/>
                <a:cs typeface="Arial"/>
              </a:rPr>
              <a:t>Что работает сейчас и где проходит граница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AE662-0BE4-42BB-9A4A-1E767068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Публичный сайт доступен без входа в ChatGPT.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34B54-1BFE-4E16-BB54-9014D0AF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23339-53F7-4C4C-B9D3-C6E2D7FB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18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18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70B81-AEDC-4206-BB3C-BF274F64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Сайт: Calendar / Funnel / Results, D1, подтверждённая Payment и refund.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AB627-4B3A-409C-BF93-0D994DA6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Бот: локальный polling; нужен токен и включённый ноутбук.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8C309-6CA1-413D-A349-94727C7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Связь событий с сайтом: ручной импорт events.csv в «Воронку».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566AF-B7A6-43C4-B1FB-9DA07CBF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8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843"/>
                </a:solidFill>
                <a:latin typeface="Arial"/>
                <a:ea typeface="Arial"/>
                <a:cs typeface="Arial"/>
              </a:rPr>
              <a:t>История: только сценарная оценка, контакт с постом неизвестен.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A3A4B-0811-48D0-9491-84E32BCE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166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166E6"/>
                </a:solidFill>
                <a:latin typeface="Arial"/>
                <a:ea typeface="Arial"/>
                <a:cs typeface="Arial"/>
              </a:rPr>
              <a:t>Следующий этап: постоянно работающий бот + автоматическая доставка</a:t>
            </a:r>
          </a:p>
          <a:p xmlns:a="http://schemas.openxmlformats.org/drawingml/2006/main">
            <a:pPr>
              <a:defRPr sz="1875" b="1">
                <a:solidFill>
                  <a:srgbClr val="4166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166E6"/>
                </a:solidFill>
                <a:latin typeface="Arial"/>
                <a:ea typeface="Arial"/>
                <a:cs typeface="Arial"/>
              </a:rPr>
              <a:t>событий. Это план развития, в текущем релизе не включено.</a:t>
            </a:r>
          </a:p>
        </p:txBody>
      </p:sp>
    </p:spTree>
    <p:extLst>
      <p:ext uri="{BB962C8B-B14F-4D97-AF65-F5344CB8AC3E}">
        <p14:creationId xmlns:p14="http://schemas.microsoft.com/office/powerpoint/2010/main" val="2189177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8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7C6C1-2460-47B6-82AF-04448877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3B8EC-3343-4865-947A-6D5111D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за 2 минуты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CA585-49B4-4E20-8FA5-7FC3D31D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9D3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3E5"/>
                </a:solidFill>
                <a:latin typeface="Arial"/>
                <a:ea typeface="Arial"/>
                <a:cs typeface="Arial"/>
              </a:rPr>
              <a:t>Показываем весь путь, сохраняя различие между намерением и деньгами.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5A89C-3AF7-4847-A0E9-BA1A3DC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3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3E5"/>
                </a:solidFill>
                <a:latin typeface="Arial"/>
                <a:ea typeface="Arial"/>
                <a:cs typeface="Arial"/>
              </a:rPr>
              <a:t>Поступашки  /  Команда «Наступали»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5340E-D88C-42BC-839D-DC5096C8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531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3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3E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4769C-A83F-45B7-97C0-27EEEB67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10515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Календарь: открыть live-размещение, скопировать /r/ID.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9232C-8417-410F-9502-B8F86EB0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0515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Telegram: нажать Start, затем «Перейти к покупке».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B5A6E-FAB0-4F9F-8DE9-70E172E0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0515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Воронка: импорт CSV → проверить Start и intent.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E0018-1467-45DE-B646-B45DF1B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515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Зарегистрировать подтверждённую Payment; проверить возврат.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B3018-BA84-4241-BFF2-956939BE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10515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5. Результаты: переключить четыре модели и проверить сумму.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ED452-D0CF-4474-965D-87567495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9BDF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DFE"/>
                </a:solidFill>
                <a:latin typeface="Arial"/>
                <a:ea typeface="Arial"/>
                <a:cs typeface="Arial"/>
              </a:rPr>
              <a:t>https://demo-komandy-postupili.postupili-demo.workers.dev/</a:t>
            </a:r>
          </a:p>
        </p:txBody>
      </p:sp>
    </p:spTree>
    <p:extLst>
      <p:ext uri="{BB962C8B-B14F-4D97-AF65-F5344CB8AC3E}">
        <p14:creationId xmlns:p14="http://schemas.microsoft.com/office/powerpoint/2010/main" val="142592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2026-09-12T18:31:24.8090000Z</dcterms:created>
  <dcterms:modified xsi:type="dcterms:W3CDTF">2026-09-12T18:31:24.8090000Z</dcterms:modified>
</coreProperties>
</file>