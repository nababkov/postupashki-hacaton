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4b38af6f5f24f28" /><Relationship Type="http://schemas.openxmlformats.org/officeDocument/2006/relationships/extended-properties" Target="/docProps/app.xml" Id="Re7f482a03f5e4e83" /><Relationship Type="http://schemas.openxmlformats.org/officeDocument/2006/relationships/officeDocument" Target="/ppt/presentation.xml" Id="R3c7076da7851489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1a347e118db43d2"/>
  </p:sldMasterIdLst>
  <p:notesMasterIdLst>
    <p:notesMasterId xmlns:r="http://schemas.openxmlformats.org/officeDocument/2006/relationships" r:id="R26ecdbd9a66d4c1c"/>
  </p:notesMasterIdLst>
  <p:sldIdLst>
    <p:sldId xmlns:r="http://schemas.openxmlformats.org/officeDocument/2006/relationships" id="256" r:id="Rf416566ae3a34f60"/>
    <p:sldId xmlns:r="http://schemas.openxmlformats.org/officeDocument/2006/relationships" id="257" r:id="R39acef6cbb2a4d1e"/>
    <p:sldId xmlns:r="http://schemas.openxmlformats.org/officeDocument/2006/relationships" id="258" r:id="Rf857d21f89444e56"/>
    <p:sldId xmlns:r="http://schemas.openxmlformats.org/officeDocument/2006/relationships" id="259" r:id="Rf15e7586d5604a22"/>
    <p:sldId xmlns:r="http://schemas.openxmlformats.org/officeDocument/2006/relationships" id="260" r:id="R30c5730d25c7423f"/>
    <p:sldId xmlns:r="http://schemas.openxmlformats.org/officeDocument/2006/relationships" id="261" r:id="R48ae8c3119b3475e"/>
    <p:sldId xmlns:r="http://schemas.openxmlformats.org/officeDocument/2006/relationships" id="262" r:id="R2b0f4b7195254195"/>
    <p:sldId xmlns:r="http://schemas.openxmlformats.org/officeDocument/2006/relationships" id="263" r:id="Ra37dea85687648bc"/>
    <p:sldId xmlns:r="http://schemas.openxmlformats.org/officeDocument/2006/relationships" id="264" r:id="R3b215a7340214f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72beacb774a4008" /><Relationship Type="http://schemas.openxmlformats.org/officeDocument/2006/relationships/slideMaster" Target="/ppt/slideMasters/slideMaster1.xml" Id="Rd1a347e118db43d2" /><Relationship Type="http://schemas.openxmlformats.org/officeDocument/2006/relationships/notesMaster" Target="/ppt/notesMasters/notesMaster1.xml" Id="R26ecdbd9a66d4c1c" /><Relationship Type="http://schemas.openxmlformats.org/officeDocument/2006/relationships/presProps" Target="/ppt/presProps.xml" Id="R038bc058c2c343d8" /><Relationship Type="http://schemas.openxmlformats.org/officeDocument/2006/relationships/tableStyles" Target="/ppt/tableStyles.xml" Id="Rac13fd486acd44c8" /><Relationship Type="http://schemas.openxmlformats.org/officeDocument/2006/relationships/slide" Target="/ppt/slides/slide1.xml" Id="Rf416566ae3a34f60" /><Relationship Type="http://schemas.openxmlformats.org/officeDocument/2006/relationships/slide" Target="/ppt/slides/slide2.xml" Id="R39acef6cbb2a4d1e" /><Relationship Type="http://schemas.openxmlformats.org/officeDocument/2006/relationships/slide" Target="/ppt/slides/slide3.xml" Id="Rf857d21f89444e56" /><Relationship Type="http://schemas.openxmlformats.org/officeDocument/2006/relationships/slide" Target="/ppt/slides/slide4.xml" Id="Rf15e7586d5604a22" /><Relationship Type="http://schemas.openxmlformats.org/officeDocument/2006/relationships/slide" Target="/ppt/slides/slide5.xml" Id="R30c5730d25c7423f" /><Relationship Type="http://schemas.openxmlformats.org/officeDocument/2006/relationships/slide" Target="/ppt/slides/slide6.xml" Id="R48ae8c3119b3475e" /><Relationship Type="http://schemas.openxmlformats.org/officeDocument/2006/relationships/slide" Target="/ppt/slides/slide7.xml" Id="R2b0f4b7195254195" /><Relationship Type="http://schemas.openxmlformats.org/officeDocument/2006/relationships/slide" Target="/ppt/slides/slide8.xml" Id="Ra37dea85687648bc" /><Relationship Type="http://schemas.openxmlformats.org/officeDocument/2006/relationships/slide" Target="/ppt/slides/slide9.xml" Id="R3b215a7340214f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0c851ba10647e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a8c37f3004498" /><Relationship Type="http://schemas.openxmlformats.org/officeDocument/2006/relationships/notesMaster" Target="/ppt/notesMasters/notesMaster1.xml" Id="Rc71cfecbbe0841d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0e12522950541bd" /><Relationship Type="http://schemas.openxmlformats.org/officeDocument/2006/relationships/notesMaster" Target="/ppt/notesMasters/notesMaster1.xml" Id="R83bdd240bc88445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51d245fb20d4482" /><Relationship Type="http://schemas.openxmlformats.org/officeDocument/2006/relationships/notesMaster" Target="/ppt/notesMasters/notesMaster1.xml" Id="R3fe323026d9f42e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fb0ff359c9846db" /><Relationship Type="http://schemas.openxmlformats.org/officeDocument/2006/relationships/notesMaster" Target="/ppt/notesMasters/notesMaster1.xml" Id="R9b5d42f44b7a4e0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3bf609b27594c38" /><Relationship Type="http://schemas.openxmlformats.org/officeDocument/2006/relationships/notesMaster" Target="/ppt/notesMasters/notesMaster1.xml" Id="Recb3b2c714d74cd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22216417d8243f7" /><Relationship Type="http://schemas.openxmlformats.org/officeDocument/2006/relationships/notesMaster" Target="/ppt/notesMasters/notesMaster1.xml" Id="R1cc38c8db10d47b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5a6d0435e14b80" /><Relationship Type="http://schemas.openxmlformats.org/officeDocument/2006/relationships/notesMaster" Target="/ppt/notesMasters/notesMaster1.xml" Id="Rb1bc2df4fa6c493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b86c317e4184be2" /><Relationship Type="http://schemas.openxmlformats.org/officeDocument/2006/relationships/notesMaster" Target="/ppt/notesMasters/notesMaster1.xml" Id="R5c5464dbdf48425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c26148a6ad847b2" /><Relationship Type="http://schemas.openxmlformats.org/officeDocument/2006/relationships/notesMaster" Target="/ppt/notesMasters/notesMaster1.xml" Id="R451dbe64a0c649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https://github.com/NAbabkov/Postupashki-hacaton, README.md, lib/reporting.ts, lib/attribution.ts, lib/telegram-core.ts, lib/telegram-runtime.ts и docs/BOT_CONTROL.md. 12.09.2026. https://demo-komandy-postupili.postupili-demo.workers.dev/ Исторические и демонстрационные показатели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https://github.com/NAbabkov/Postupashki-hacaton, README.md, lib/reporting.ts, lib/attribution.ts, lib/telegram-core.ts, lib/telegram-runtime.ts и docs/BOT_CONTROL.md. 12.09.2026. https://demo-komandy-postupili.postupili-demo.workers.dev/ Исторические и демонстрационные показатели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https://github.com/NAbabkov/Postupashki-hacaton, README.md, lib/reporting.ts, lib/attribution.ts, lib/telegram-core.ts, lib/telegram-runtime.ts и docs/BOT_CONTROL.md. 12.09.2026. https://demo-komandy-postupili.postupili-demo.workers.dev/ Исторические и демонстрационные показатели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https://github.com/NAbabkov/Postupashki-hacaton, README.md, lib/reporting.ts, lib/attribution.ts, lib/telegram-core.ts, lib/telegram-runtime.ts и docs/BOT_CONTROL.md. 12.09.2026. https://demo-komandy-postupili.postupili-demo.workers.dev/ Исторические и демонстрационные показатели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Источник: текущий репозиторий https://github.com/NAbabkov/Postupashki-hacaton, README.md, lib/reporting.ts, lib/attribution.ts, lib/telegram-core.ts, lib/telegram-runtime.ts и docs/BOT_CONTROL.md. 12.09.2026. https://demo-komandy-postupili.postupili-demo.workers.dev/ Исторические и демонстрационные показатели разделены.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Иллюстративный синтетический пример, не результаты кейса. Веса Decay 2^-2.5 и 2^-0.5 дают 20% и 80%. В каждом ряду A+B=10000 руб. Источник реализации: lib/attribution.ts. Только после allocation выполняется агрегация campaign/channel/course; фильтры не перенормируют скрытые доли. Без подходящего Start — Unknown. История остаётся сценарной оценкой.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Синтетический пример: Net=10000, переменные расходы обучения 30%, комиссия 2%, обслуживание 500. C=10000*0.68-500=6300. Реклама A=5000, прочий маркетинг O=1000, M=6000. ROAS=2, ROMI=(6300-6000)/6000=5%. Налоги и постоянные расходы не распределены. Неизвестный расход, нулевой знаменатель и незрелая когорта дают прочерк. Refund уменьшает Net, фиксированная стоимость обслуживания остаётся. Источник: lib/reporting.ts, docs/SOLUTION.md.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Слева фактический экран MVP с вымышленными demo данными. Вклад по моделям отличается от воронки: воронка считает происхождение intent, а результаты — allocation подтверждённых оплат. Не доказанный причинный эффект. Общее число покупателей дедуплицируется между размещениями.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Текущий серверный бот @tracker_marketing_bot. Webhook включён, очередь pending=0. 14 внешних проверок управления/API прошли, две независимые team-session видят один статус. 67 тестов движка прошли, typecheck/lint/build прошли. Outbound test messages=0, getUpdates calls=0. Реальный пользователь должен сам открыть live placement и нажать Start; browser visit сам не означает start. Новые данные обновляются до 15 секунд при подходящих live-фильтрах. CSV обезличен и совместим с импортом. Не требуется запуск Python; polling остаётся резервным режимом и несовместим с активным webhook.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56872709f7b48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5e895d8fb6946b2" /><Relationship Type="http://schemas.openxmlformats.org/officeDocument/2006/relationships/slideLayout" Target="/ppt/slideLayouts/slideLayout1.xml" Id="Rb3ded13c0e3d45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3ded13c0e3d45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fb0fcd651d4403" /><Relationship Type="http://schemas.openxmlformats.org/officeDocument/2006/relationships/notesSlide" Target="/ppt/notesSlides/notesSlide1.xml" Id="R0da2906fbb38481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bbdd3b9d10487a" /><Relationship Type="http://schemas.openxmlformats.org/officeDocument/2006/relationships/notesSlide" Target="/ppt/notesSlides/notesSlide2.xml" Id="R544ff2e4aede4b1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5fe9e581e044a9" /><Relationship Type="http://schemas.openxmlformats.org/officeDocument/2006/relationships/notesSlide" Target="/ppt/notesSlides/notesSlide3.xml" Id="R9a3f3c4ad827450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25eb0d973e45dc" /><Relationship Type="http://schemas.openxmlformats.org/officeDocument/2006/relationships/image" Target="/ppt/media/image.jpeg" Id="R770ff070bc5e4773" /><Relationship Type="http://schemas.openxmlformats.org/officeDocument/2006/relationships/notesSlide" Target="/ppt/notesSlides/notesSlide4.xml" Id="R5b88fbb9d001499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d947c181634f78" /><Relationship Type="http://schemas.openxmlformats.org/officeDocument/2006/relationships/image" Target="/ppt/media/image2.jpeg" Id="R474c1d209b804f7b" /><Relationship Type="http://schemas.openxmlformats.org/officeDocument/2006/relationships/notesSlide" Target="/ppt/notesSlides/notesSlide5.xml" Id="R0f4e0985506247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9907e256d4772" /><Relationship Type="http://schemas.openxmlformats.org/officeDocument/2006/relationships/notesSlide" Target="/ppt/notesSlides/notesSlide6.xml" Id="Rd2c4dafd12d2472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0bfce740aa4dbe" /><Relationship Type="http://schemas.openxmlformats.org/officeDocument/2006/relationships/notesSlide" Target="/ppt/notesSlides/notesSlide7.xml" Id="Rd0234ef1bc8b481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66955b8efb42ba" /><Relationship Type="http://schemas.openxmlformats.org/officeDocument/2006/relationships/image" Target="/ppt/media/image3.jpeg" Id="R874290c48f694321" /><Relationship Type="http://schemas.openxmlformats.org/officeDocument/2006/relationships/notesSlide" Target="/ppt/notesSlides/notesSlide8.xml" Id="Rbf2c51313db1422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94088a50934f73" /><Relationship Type="http://schemas.openxmlformats.org/officeDocument/2006/relationships/notesSlide" Target="/ppt/notesSlides/notesSlide9.xml" Id="Ra1e0a016913449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B4397B-2F54-483D-9913-F7F68A32B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t/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EECE77-2277-4D83-89F8-37BB3E93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F1567B-4AF9-462F-8F2F-CDC79AC3F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2BE036-514D-43E7-85FA-17408C010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43100"/>
            <a:ext cx="109728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78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78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Поступашки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542EE8-0DD3-4966-945F-342E8799D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76625"/>
            <a:ext cx="1047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4DC6"/>
                </a:solidFill>
                <a:latin typeface="Arial"/>
                <a:ea typeface="Arial"/>
                <a:cs typeface="Arial"/>
              </a:rPr>
              <a:t>Планирование Telegram-маркетинга</a:t>
            </a:r>
          </a:p>
          <a:p xmlns:a="http://schemas.openxmlformats.org/drawingml/2006/main">
            <a:pPr>
              <a:defRPr sz="3000" b="0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244DC6"/>
                </a:solidFill>
                <a:latin typeface="Arial"/>
                <a:ea typeface="Arial"/>
                <a:cs typeface="Arial"/>
              </a:rPr>
              <a:t>и оценка подтверждённых продаж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68AED5-06A1-456D-8DD3-29C1482A5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14950"/>
            <a:ext cx="8572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Решение хакатона</a:t>
            </a:r>
          </a:p>
        </p:txBody>
      </p:sp>
    </p:spTree>
    <p:extLst>
      <p:ext uri="{BB962C8B-B14F-4D97-AF65-F5344CB8AC3E}">
        <p14:creationId xmlns:p14="http://schemas.microsoft.com/office/powerpoint/2010/main" val="99585024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E68BB3-3E91-4785-B080-73180F74B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Исходный процесс · AS IS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F9211D-865A-4F25-909D-A26F601A8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507376-8A57-4EBA-B790-E077C63F6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1FE80C-A0C7-44C5-95A1-E5CBC780A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795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87BA8F-025C-4F3A-AD7D-46244770A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314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строк оплат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5D457D-7748-401A-A688-7AE6693B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2925" y="14859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606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2D79DB-AEFA-4457-8BC1-D5793C1A7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2314575"/>
            <a:ext cx="323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анонимных 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6E35F1-A6EB-4471-9EB9-F089CE88E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1485900"/>
            <a:ext cx="285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18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454540-133F-46F8-89C6-32F496E63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3145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курсов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BEAE4F-E100-4829-AAD3-B329708F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48025"/>
            <a:ext cx="3143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C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6EA64D-5227-4606-83EB-254F1B5BB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457575"/>
            <a:ext cx="28003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Telegram-посты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 план публикаций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F950D2F-6E4D-4F93-A11E-F1FD19351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48025"/>
            <a:ext cx="323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57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DFF900-B0B4-474A-B72B-22465B1A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457575"/>
            <a:ext cx="289560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Таблица продаж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курс · сумма · дата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509E13A-B44B-4896-B7B9-24C52373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3248025"/>
            <a:ext cx="29527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26C7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B69249-D4F3-4C7E-BAC2-58C617CC9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457575"/>
            <a:ext cx="26098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Сценарная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оценка рекламы</a:t>
            </a:r>
          </a:p>
        </p:txBody>
      </p:sp>
      <p:cxnSp>
        <p:nvCxnSpPr>
          <p:cNvPr id="35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3752850" y="38195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36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7810500" y="3819525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dash"/>
            <a:headEnd type="none" w="med" len="med"/>
            <a:tailEnd type="arrow" w="med" len="med"/>
          </a:ln>
        </p:spPr>
      </p:cxn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0DA79C-8922-4086-9503-A42A1ED50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0"/>
            <a:ext cx="109728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A8393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A83932"/>
                </a:solidFill>
                <a:latin typeface="Arial"/>
                <a:ea typeface="Arial"/>
                <a:cs typeface="Arial"/>
              </a:rPr>
              <a:t>Контакт покупателя с конкретным постом неизвестен.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B81395-283A-4FBB-9194-AA81528A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29275"/>
            <a:ext cx="10972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182 наблюдаемых поста пяти каналов; 62 проверены для календаря.</a:t>
            </a:r>
          </a:p>
          <a:p xmlns:a="http://schemas.openxmlformats.org/drawingml/2006/main">
            <a:pPr>
              <a:defRPr sz="1875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Исторических лидов, расходов и источников покупателей нет.</a:t>
            </a:r>
          </a:p>
        </p:txBody>
      </p:sp>
    </p:spTree>
    <p:extLst>
      <p:ext uri="{BB962C8B-B14F-4D97-AF65-F5344CB8AC3E}">
        <p14:creationId xmlns:p14="http://schemas.microsoft.com/office/powerpoint/2010/main" val="144802484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7803F9-0621-4E53-94ED-39335F26D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Рабочий процесс · TO BE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90B20B-739B-4388-9A3A-01B9CB61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42225E-59DD-4AD1-AB3F-2558A28D0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6676BC-116C-4F16-A104-847461F10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244DC6"/>
                </a:solidFill>
                <a:latin typeface="Arial"/>
                <a:ea typeface="Arial"/>
                <a:cs typeface="Arial"/>
              </a:rPr>
              <a:t>Один пост — одно размещение — свой источник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E0911A-84F3-444F-AE96-A53B24D2E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C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408946-FCB1-48FD-A4DF-A4CABE1E3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Размещение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дата · пост · бюджет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62E922-9929-46E3-95D7-2451D786A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C6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D33002-6633-4AB3-B0F0-E1ACA486A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51460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Уникальная ссылка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/r/placementId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ABB1CD-C781-45E3-82B3-2F8E825E6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305050"/>
            <a:ext cx="3000375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4DC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1F422-8A3B-44D2-A25C-7AAF3633E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2514600"/>
            <a:ext cx="2657475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Start бота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источник + userKey</a:t>
            </a:r>
          </a:p>
        </p:txBody>
      </p:sp>
      <p:cxnSp>
        <p:nvCxnSpPr>
          <p:cNvPr id="33" name=""/>
          <p:cNvCxnSpPr>
            <a:stCxn xmlns:a="http://schemas.openxmlformats.org/drawingml/2006/main" id="5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609975" y="2900363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34" name=""/>
          <p:cNvCxnSpPr>
            <a:stCxn xmlns:a="http://schemas.openxmlformats.org/drawingml/2006/main" id="7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7591425" y="2900363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2228A3-789B-43B8-A266-A9A3BC57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448175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6820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80DC03-B126-4E15-87BC-6B5FC3045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53475" y="4657725"/>
            <a:ext cx="2657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Клик «К покупке»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передача менеджеру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4A3050-D5AE-4663-B2FE-D25134C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48175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7B57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E2FB87-18C8-442C-84A6-7643A962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657725"/>
            <a:ext cx="2657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Подтверждённая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Payment + refund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5569D9-E5FC-492C-8395-472096669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48175"/>
            <a:ext cx="3000375" cy="1238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2122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62FAE-FB97-424C-A019-A4FB3F263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57725"/>
            <a:ext cx="2657475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Результаты</a:t>
            </a:r>
          </a:p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модели · экономика</a:t>
            </a:r>
          </a:p>
        </p:txBody>
      </p:sp>
      <p:cxnSp>
        <p:nvCxnSpPr>
          <p:cNvPr id="41" name=""/>
          <p:cNvCxnSpPr>
            <a:stCxn xmlns:a="http://schemas.openxmlformats.org/drawingml/2006/main" id="9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>
            <a:off x="10082213" y="3495675"/>
            <a:ext cx="0" cy="95250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solid"/>
            <a:headEnd type="none" w="med" len="med"/>
            <a:tailEnd type="arrow" w="med" len="med"/>
          </a:ln>
        </p:spPr>
      </p:cxnSp>
      <p:cxnSp>
        <p:nvCxnSpPr>
          <p:cNvPr id="42" name=""/>
          <p:cNvCxnSpPr>
            <a:stCxn xmlns:a="http://schemas.openxmlformats.org/drawingml/2006/main" id="13" idx="1"/>
            <a:endCxn xmlns:a="http://schemas.openxmlformats.org/drawingml/2006/main" id="15" idx="3"/>
          </p:cNvCxnSpPr>
          <p:nvPr/>
        </p:nvCxnSpPr>
        <p:spPr>
          <a:xfrm xmlns:a="http://schemas.openxmlformats.org/drawingml/2006/main" flipH="1">
            <a:off x="7591425" y="5067300"/>
            <a:ext cx="99060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dash"/>
            <a:headEnd type="none" w="med" len="med"/>
            <a:tailEnd type="arrow" w="med" len="med"/>
          </a:ln>
        </p:spPr>
      </p:cxnSp>
      <p:cxnSp>
        <p:nvCxnSpPr>
          <p:cNvPr id="43" name=""/>
          <p:cNvCxnSpPr>
            <a:stCxn xmlns:a="http://schemas.openxmlformats.org/drawingml/2006/main" id="15" idx="1"/>
            <a:endCxn xmlns:a="http://schemas.openxmlformats.org/drawingml/2006/main" id="17" idx="3"/>
          </p:cNvCxnSpPr>
          <p:nvPr/>
        </p:nvCxnSpPr>
        <p:spPr>
          <a:xfrm xmlns:a="http://schemas.openxmlformats.org/drawingml/2006/main" flipH="1">
            <a:off x="3609975" y="5067300"/>
            <a:ext cx="9810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626C70"/>
            </a:solidFill>
            <a:prstDash val="solid"/>
            <a:headEnd type="none" w="med" len="med"/>
            <a:tailEnd type="arrow" w="med" len="med"/>
          </a:ln>
        </p:spPr>
      </p:cxn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CDABD8A-6B44-4B34-9B5B-95645784B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724275"/>
            <a:ext cx="69913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A83932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83932"/>
                </a:solidFill>
                <a:latin typeface="Arial"/>
                <a:ea typeface="Arial"/>
                <a:cs typeface="Arial"/>
              </a:rPr>
              <a:t>Намерение купить — не оплата</a:t>
            </a:r>
          </a:p>
        </p:txBody>
      </p:sp>
    </p:spTree>
    <p:extLst>
      <p:ext uri="{BB962C8B-B14F-4D97-AF65-F5344CB8AC3E}">
        <p14:creationId xmlns:p14="http://schemas.microsoft.com/office/powerpoint/2010/main" val="4714646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FAB650-8B93-4AF5-ABA8-3093734D5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Календарь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6EAC83-6F67-40AD-B48A-FC9AB6889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0160D1-1017-41D5-A250-216CB3470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0ff070bc5e4773"/>
          <a:stretch xmlns:a="http://schemas.openxmlformats.org/drawingml/2006/main"/>
        </p:blipFill>
        <p:spPr>
          <a:xfrm xmlns:a="http://schemas.openxmlformats.org/drawingml/2006/main">
            <a:off x="981492" y="1428750"/>
            <a:ext cx="5447465" cy="471487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7B721E-877B-41B0-A440-001BD4B77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562100"/>
            <a:ext cx="4314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Кампания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CD79D3-650F-4D85-8349-6E307EC1E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038350"/>
            <a:ext cx="4314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Объединяет размещения</a:t>
            </a:r>
          </a:p>
          <a:p xmlns:a="http://schemas.openxmlformats.org/drawingml/2006/main">
            <a:pPr>
              <a:defRPr sz="202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одной маркетинговой задачи.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5D0B4C-497C-48E8-9EF9-AA5795702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48000"/>
            <a:ext cx="4314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Курс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86EC23-C12F-4296-9784-46146D5AE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524250"/>
            <a:ext cx="4314825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Продукт, который продаём.</a:t>
            </a:r>
          </a:p>
          <a:p xmlns:a="http://schemas.openxmlformats.org/drawingml/2006/main">
            <a:pPr>
              <a:defRPr sz="202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У кампании может быть несколько.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A6C6F8-3033-480A-8D22-B3F49A13E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505325"/>
            <a:ext cx="43148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Размещение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8B7BFA-BEE2-41A6-BD0C-CE378E55B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981575"/>
            <a:ext cx="4314825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Конкретный пост, канал,</a:t>
            </a:r>
          </a:p>
          <a:p xmlns:a="http://schemas.openxmlformats.org/drawingml/2006/main">
            <a:pPr>
              <a:defRPr sz="202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дата, бюджет и стабильная ссылка.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0A206-A3BE-4440-A5C1-6927812C4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06680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На экране — вымышленные данные демо.</a:t>
            </a:r>
          </a:p>
        </p:txBody>
      </p:sp>
    </p:spTree>
    <p:extLst>
      <p:ext uri="{BB962C8B-B14F-4D97-AF65-F5344CB8AC3E}">
        <p14:creationId xmlns:p14="http://schemas.microsoft.com/office/powerpoint/2010/main" val="5067465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DE04EB-9BA7-4985-B755-973B079D8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Воронка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B328BC-ADF0-4027-91E9-581586F89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74EB62-B5F7-4885-AA50-CD980D5B5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4c1d209b804f7b"/>
          <a:stretch xmlns:a="http://schemas.openxmlformats.org/drawingml/2006/main"/>
        </p:blipFill>
        <p:spPr>
          <a:xfrm xmlns:a="http://schemas.openxmlformats.org/drawingml/2006/main">
            <a:off x="609600" y="1631100"/>
            <a:ext cx="7048500" cy="49007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F8FFC-6545-4E34-BB59-E3B8E0F7C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1590675"/>
            <a:ext cx="3419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Start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6C8F7E-C731-4789-A15B-6BB1AF3F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11455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Бот получил запуск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от пользователя.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80E374-3584-4694-89AD-192405C43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238500"/>
            <a:ext cx="3419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Намерение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9123D65-0DC5-43EE-A526-2F902397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3762375"/>
            <a:ext cx="3419475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Клик «К покупке».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Деньги ещё не получены.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0AFB10-1556-4C98-8FF1-BBB6817BD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010150"/>
            <a:ext cx="341947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87B57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87B57"/>
                </a:solidFill>
                <a:latin typeface="Arial"/>
                <a:ea typeface="Arial"/>
                <a:cs typeface="Arial"/>
              </a:rPr>
              <a:t>Payment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7C3AA2-2223-47E6-97E4-3D1B45F05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5524500"/>
            <a:ext cx="341947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Менеджер подтвердил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сумму отдельно.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517E2E-166D-4107-9ACC-09A75E449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66825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Синтетическое демо. Web-событие и Telegram Start не склеиваются по человеку.</a:t>
            </a:r>
          </a:p>
        </p:txBody>
      </p:sp>
    </p:spTree>
    <p:extLst>
      <p:ext uri="{BB962C8B-B14F-4D97-AF65-F5344CB8AC3E}">
        <p14:creationId xmlns:p14="http://schemas.microsoft.com/office/powerpoint/2010/main" val="9958145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66E25B2-1503-475F-94ED-ACF8EB334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Модели атрибуции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6E8B4F-1FC0-4331-8B62-83E281A2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37A448-E1A4-4D78-951D-05B54FE7E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EF4887-9569-4750-9176-AC3B3628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09728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44DC6"/>
                </a:solidFill>
                <a:latin typeface="Arial"/>
                <a:ea typeface="Arial"/>
                <a:cs typeface="Arial"/>
              </a:rPr>
              <a:t>Bot Start того же пользователя → уникальные placementId → доли оплаты</a:t>
            </a:r>
          </a:p>
        </p:txBody>
      </p:sp>
      <p:graphicFrame>
        <p:nvGraphicFramePr>
          <p:cNvPr id="11" name=""/>
          <p:cNvGraphicFramePr/>
          <p:nvPr/>
        </p:nvGraphicFramePr>
        <p:xfrm>
          <a:off xmlns:a="http://schemas.openxmlformats.org/drawingml/2006/main" x="609600" y="2295525"/>
          <a:ext xmlns:a="http://schemas.openxmlformats.org/drawingml/2006/main" cx="10972800" cy="31051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533650"/>
                <a:gridCol w="4191000"/>
                <a:gridCol w="2124075"/>
                <a:gridCol w="2124075"/>
              </a:tblGrid>
              <a:tr h="62103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Модель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Правило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Пост A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Пост B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First Touch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Первое касание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10 000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Last Touch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Последнее касание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10 000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Linear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Поровну размещениям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5 000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5 000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  <a:tr h="62103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Time Decay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Вес выше ближе к оплате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2 000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8 000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997D40-A5FC-456A-A422-2CB4728F9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0225"/>
            <a:ext cx="109728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Пример вымышленный: A за 5 дней, B за 1 день до оплаты 10 000 ₽;</a:t>
            </a:r>
          </a:p>
          <a:p xmlns:a="http://schemas.openxmlformats.org/drawingml/2006/main">
            <a:pPr>
              <a:defRPr sz="1875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полураспад Decay — 2 дня. Оба поста одной кампании остаются разными касаниями.</a:t>
            </a:r>
          </a:p>
        </p:txBody>
      </p:sp>
    </p:spTree>
    <p:extLst>
      <p:ext uri="{BB962C8B-B14F-4D97-AF65-F5344CB8AC3E}">
        <p14:creationId xmlns:p14="http://schemas.microsoft.com/office/powerpoint/2010/main" val="8491782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1FFB42-CDAF-42D2-B060-A3DE46BA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Экономика маркетинга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6FA498-B64E-470A-BF2A-ECF954A0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7FF0BB-D7DE-49BC-BA9A-03A434DF9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917155-D911-4A48-96F6-07BF82C90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81125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Синтетический пример с явно заданными расходами</a:t>
            </a:r>
          </a:p>
        </p:txBody>
      </p:sp>
      <p:graphicFrame>
        <p:nvGraphicFramePr>
          <p:cNvPr id="14" name=""/>
          <p:cNvGraphicFramePr/>
          <p:nvPr/>
        </p:nvGraphicFramePr>
        <p:xfrm>
          <a:off xmlns:a="http://schemas.openxmlformats.org/drawingml/2006/main" x="609600" y="2105025"/>
          <a:ext xmlns:a="http://schemas.openxmlformats.org/drawingml/2006/main" cx="10972800" cy="25431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857625"/>
                <a:gridCol w="5086350"/>
                <a:gridCol w="2028825"/>
              </a:tblGrid>
              <a:tr h="635794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Состав расчёта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Допущение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Сумма</a:t>
                      </a:r>
                    </a:p>
                  </a:txBody>
                  <a:tcPr marL="91440" marR="91440" marT="45720" marB="45720">
                    <a:solidFill>
                      <a:srgbClr val="182122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Net: оплата минус возврат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10 000 − 0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10 000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Доход до маркетинга C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Net × (1 − 30% − 2%) − 500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6 300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  <a:tr h="635794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Маркетинг M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Реклама A 5 000 + прочее 1 000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182122"/>
                          </a:solidFill>
                          <a:latin typeface="Arial"/>
                          <a:ea typeface="Arial"/>
                          <a:cs typeface="Arial"/>
                        </a:rPr>
                        <a:t>6 000 ₽</a:t>
                      </a:r>
                    </a:p>
                  </a:txBody>
                  <a:tcPr marL="91440" marR="91440" marT="45720" marB="45720">
                    <a:solidFill>
                      <a:srgbClr val="F9F7F2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3FF8AF3-86BF-4F62-B7DA-F35559669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50196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ROAS  2×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324694-74D4-4EEE-AB0C-8535B3A6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010150"/>
            <a:ext cx="48196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825" b="1">
                <a:solidFill>
                  <a:srgbClr val="187B57"/>
                </a:solidFill>
                <a:latin typeface="Arial"/>
                <a:ea typeface="Arial"/>
                <a:cs typeface="Arial"/>
              </a:defRPr>
            </a:pPr>
            <a:r>
              <a:rPr sz="3825" b="1">
                <a:solidFill>
                  <a:srgbClr val="187B57"/>
                </a:solidFill>
                <a:latin typeface="Arial"/>
                <a:ea typeface="Arial"/>
                <a:cs typeface="Arial"/>
              </a:rPr>
              <a:t>ROMI  5%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576601-DF84-4C24-BE26-BD098B54C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552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Net / рекламные расходы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84FCB6-E3DD-4C53-A0CD-4798C3ACF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5791200"/>
            <a:ext cx="48196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(C − M) / M × 100%</a:t>
            </a:r>
          </a:p>
        </p:txBody>
      </p:sp>
    </p:spTree>
    <p:extLst>
      <p:ext uri="{BB962C8B-B14F-4D97-AF65-F5344CB8AC3E}">
        <p14:creationId xmlns:p14="http://schemas.microsoft.com/office/powerpoint/2010/main" val="178703863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9A1309-89B8-4E44-B1EA-FFD1B6A7E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Результаты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A772F4-00F9-4183-A0AC-8CB3922FE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3E9673-20F0-4858-8359-2C632041E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4290c48f694321"/>
          <a:stretch xmlns:a="http://schemas.openxmlformats.org/drawingml/2006/main"/>
        </p:blipFill>
        <p:spPr>
          <a:xfrm xmlns:a="http://schemas.openxmlformats.org/drawingml/2006/main">
            <a:off x="917088" y="1495425"/>
            <a:ext cx="4004648" cy="476250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95C7D1-3D7F-45C7-8CE5-EFDDF158E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619250"/>
            <a:ext cx="5686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Расчёт по размещениям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64EE0F2-73BB-437C-ABCC-741800D04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2190750"/>
            <a:ext cx="5686425" cy="1209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Сначала распределяем оплату.</a:t>
            </a:r>
          </a:p>
          <a:p xmlns:a="http://schemas.openxmlformats.org/drawingml/2006/main">
            <a:pPr>
              <a:defRPr sz="225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Затем собираем кампании,</a:t>
            </a:r>
          </a:p>
          <a:p xmlns:a="http://schemas.openxmlformats.org/drawingml/2006/main">
            <a:pPr>
              <a:defRPr sz="225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каналы и курсы.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99A5FC-5540-49CE-B1EE-33661EF4F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667125"/>
            <a:ext cx="568642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Сравнение моделей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C40B4E-0D54-4BCE-9093-87CA7F5A1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4210050"/>
            <a:ext cx="5686425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Меняется доля маркетингового вклада.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Сумма подтверждённой оплаты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сохраняется.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B2A5C-6E26-4B1D-AF2E-96C298795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5629275"/>
            <a:ext cx="5686425" cy="657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A839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3932"/>
                </a:solidFill>
                <a:latin typeface="Arial"/>
                <a:ea typeface="Arial"/>
                <a:cs typeface="Arial"/>
              </a:rPr>
              <a:t>История — сценарная оценка.</a:t>
            </a:r>
          </a:p>
          <a:p xmlns:a="http://schemas.openxmlformats.org/drawingml/2006/main">
            <a:pPr>
              <a:defRPr sz="2025" b="1">
                <a:solidFill>
                  <a:srgbClr val="A83932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A83932"/>
                </a:solidFill>
                <a:latin typeface="Arial"/>
                <a:ea typeface="Arial"/>
                <a:cs typeface="Arial"/>
              </a:rPr>
              <a:t>Контакт с постом неизвестен.</a:t>
            </a:r>
          </a:p>
        </p:txBody>
      </p:sp>
    </p:spTree>
    <p:extLst>
      <p:ext uri="{BB962C8B-B14F-4D97-AF65-F5344CB8AC3E}">
        <p14:creationId xmlns:p14="http://schemas.microsoft.com/office/powerpoint/2010/main" val="120002107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9F7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62347B-28D1-41E7-B71C-6655E9C52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10972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3600" b="1">
                <a:solidFill>
                  <a:srgbClr val="182122"/>
                </a:solidFill>
                <a:latin typeface="Arial"/>
                <a:ea typeface="Arial"/>
                <a:cs typeface="Arial"/>
              </a:rPr>
              <a:t>Бот и демонстрация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13E57-16C7-4C42-B72F-FA914B76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0"/>
            <a:ext cx="952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Поступашки  /  Команда «Наступашки»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F1FEF-B778-40A7-A5E2-C2633829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81750"/>
            <a:ext cx="52387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B9CFE2-89D7-499A-86D1-342214D1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14475"/>
            <a:ext cx="10972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244DC6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244DC6"/>
                </a:solidFill>
                <a:latin typeface="Arial"/>
                <a:ea typeface="Arial"/>
                <a:cs typeface="Arial"/>
              </a:rPr>
              <a:t>Сайт → «Вход команды» → «Бот»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BEF4BC-7393-4ECE-9E90-FC92DFF14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0"/>
            <a:ext cx="109728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Включение, пауза, приветствие, менеджер и CSV.</a:t>
            </a:r>
          </a:p>
          <a:p xmlns:a="http://schemas.openxmlformats.org/drawingml/2006/main">
            <a:pPr>
              <a:defRPr sz="225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Общие серверные настройки доступны с любого ноутбука.</a:t>
            </a:r>
          </a:p>
          <a:p xmlns:a="http://schemas.openxmlformats.org/drawingml/2006/main">
            <a:pPr>
              <a:defRPr sz="2250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Бот работает в Cloudflare webhook: компьютер можно выключить.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13A47A-51B0-4BD6-B9F6-AB468260B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62425"/>
            <a:ext cx="109728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1   Календарь: открыть live-ссылку и нажать Start в Telegram.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2   Нажать «К покупке»: в воронке появится намерение.</a:t>
            </a:r>
          </a:p>
          <a:p xmlns:a="http://schemas.openxmlformats.org/drawingml/2006/main">
            <a:pPr>
              <a:defRPr sz="2175" b="0">
                <a:solidFill>
                  <a:srgbClr val="182122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82122"/>
                </a:solidFill>
                <a:latin typeface="Arial"/>
                <a:ea typeface="Arial"/>
                <a:cs typeface="Arial"/>
              </a:rPr>
              <a:t>3   Подтвердить Payment; в результатах сравнить четыре модели.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940F71-4A39-48A7-ACD3-B525C3E37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9775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626C70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626C70"/>
                </a:solidFill>
                <a:latin typeface="Arial"/>
                <a:ea typeface="Arial"/>
                <a:cs typeface="Arial"/>
              </a:rPr>
              <a:t>https://demo-komandy-postupili.postupili-demo.workers.dev/</a:t>
            </a:r>
          </a:p>
        </p:txBody>
      </p:sp>
    </p:spTree>
    <p:extLst>
      <p:ext uri="{BB962C8B-B14F-4D97-AF65-F5344CB8AC3E}">
        <p14:creationId xmlns:p14="http://schemas.microsoft.com/office/powerpoint/2010/main" val="81586386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2026-09-12T19:00:02.9980000Z</dcterms:created>
  <dcterms:modified xsi:type="dcterms:W3CDTF">2026-09-12T19:00:02.9980000Z</dcterms:modified>
</coreProperties>
</file>